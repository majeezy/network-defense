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0" d="100"/>
          <a:sy n="30" d="100"/>
        </p:scale>
        <p:origin x="38" y="9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7315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4EC3D5"/>
                </a:solidFill>
                <a:latin typeface="Calibri"/>
              </a:rPr>
              <a:t>MODULE 4.6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Mitigate Attacks with ACLs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Access Control Lists  |  Network Defense  |  Cisco Networking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4206240" cy="27940"/>
          </a:xfrm>
          <a:prstGeom prst="rect">
            <a:avLst/>
          </a:prstGeom>
          <a:solidFill>
            <a:srgbClr val="4EC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Presented by: Kudzaishe Majeza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Cisco Networking Academy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63240"/>
            <a:ext cx="10698480" cy="3063240"/>
          </a:xfrm>
          <a:prstGeom prst="roundRect">
            <a:avLst>
              <a:gd name="adj" fmla="val 15000"/>
            </a:avLst>
          </a:prstGeom>
          <a:solidFill>
            <a:srgbClr val="16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9966960" cy="2605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 dirty="0">
                <a:solidFill>
                  <a:srgbClr val="4EC3D5"/>
                </a:solidFill>
                <a:latin typeface="Calibri"/>
              </a:rPr>
              <a:t>Topics:</a:t>
            </a:r>
          </a:p>
          <a:p>
            <a:pPr>
              <a:spcAft>
                <a:spcPts val="8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•  Why We Mitigate Attacks with ACLs</a:t>
            </a:r>
          </a:p>
          <a:p>
            <a:pPr>
              <a:spcAft>
                <a:spcPts val="8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•  4.6.1 Mitigate Spoofing Attacks</a:t>
            </a:r>
          </a:p>
          <a:p>
            <a:pPr>
              <a:spcAft>
                <a:spcPts val="8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•  4.6.2 Permit Necessary Traffic through a Firewall</a:t>
            </a:r>
          </a:p>
          <a:p>
            <a:pPr>
              <a:spcAft>
                <a:spcPts val="8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•  4.6.3 Mitigate ICMP Attacks</a:t>
            </a:r>
          </a:p>
          <a:p>
            <a:pPr>
              <a:spcAft>
                <a:spcPts val="8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•  4.6.4 Mitigate SNMP Attacks</a:t>
            </a:r>
          </a:p>
          <a:p>
            <a:pPr>
              <a:spcAft>
                <a:spcPts val="8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•  Summary</a:t>
            </a:r>
          </a:p>
          <a:p>
            <a:pPr>
              <a:spcAft>
                <a:spcPts val="800"/>
              </a:spcAft>
            </a:pPr>
            <a:r>
              <a:rPr sz="1400" b="0" i="0" dirty="0">
                <a:solidFill>
                  <a:srgbClr val="FFFFFF"/>
                </a:solidFill>
                <a:latin typeface="Calibri"/>
              </a:rPr>
              <a:t>•  References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B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4EC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600" cy="105156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Why We Mitigate Attacks with ACLs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1460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Mitigate Attacks with ACLs  |  Network Defense  |  Cisco Networking Academy  |  Kudzaishe Majeza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126480" cy="3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50" b="1" i="0">
                <a:solidFill>
                  <a:srgbClr val="1B395C"/>
                </a:solidFill>
                <a:latin typeface="Calibri"/>
              </a:rPr>
              <a:t>•  ACL (Access Control List): </a:t>
            </a:r>
            <a:r>
              <a:rPr sz="1550" b="0" i="0">
                <a:solidFill>
                  <a:srgbClr val="141414"/>
                </a:solidFill>
                <a:latin typeface="Calibri"/>
              </a:rPr>
              <a:t>a numbered or named set of rules on a router or firewall that permits or denies traffic based on source/destination address, port, or protocol.</a:t>
            </a:r>
          </a:p>
          <a:p>
            <a:pPr>
              <a:spcAft>
                <a:spcPts val="1400"/>
              </a:spcAft>
            </a:pPr>
            <a:r>
              <a:rPr sz="1550" b="0" i="0">
                <a:solidFill>
                  <a:srgbClr val="141414"/>
                </a:solidFill>
                <a:latin typeface="Calibri"/>
              </a:rPr>
              <a:t>•  Beyond basic filtering, an ACL can be written to specifically block the technique behind a known attack.</a:t>
            </a:r>
          </a:p>
          <a:p>
            <a:pPr>
              <a:spcAft>
                <a:spcPts val="1400"/>
              </a:spcAft>
            </a:pPr>
            <a:r>
              <a:rPr sz="1550" b="0" i="0">
                <a:solidFill>
                  <a:srgbClr val="141414"/>
                </a:solidFill>
                <a:latin typeface="Calibri"/>
              </a:rPr>
              <a:t>•  This module covers four attack categories defenders commonly fight using ACLs: spoofing, uncontrolled firewall traffic, ICMP abuse, and SNMP exploitation.</a:t>
            </a:r>
          </a:p>
          <a:p>
            <a:pPr>
              <a:spcAft>
                <a:spcPts val="1400"/>
              </a:spcAft>
            </a:pPr>
            <a:r>
              <a:rPr sz="1550" b="1" i="0">
                <a:solidFill>
                  <a:srgbClr val="1B395C"/>
                </a:solidFill>
                <a:latin typeface="Calibri"/>
              </a:rPr>
              <a:t>•  Golden rule: </a:t>
            </a:r>
            <a:r>
              <a:rPr sz="1550" b="0" i="0">
                <a:solidFill>
                  <a:srgbClr val="141414"/>
                </a:solidFill>
                <a:latin typeface="Calibri"/>
              </a:rPr>
              <a:t>permit only the traffic you know you need, then deny everything else by default.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00000" y="1500000"/>
            <a:ext cx="2000000" cy="700000"/>
          </a:xfrm>
          <a:prstGeom prst="roundRect">
            <a:avLst>
              <a:gd name="adj" fmla="val 15000"/>
            </a:avLst>
          </a:prstGeom>
          <a:solidFill>
            <a:srgbClr val="1B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Incoming</a:t>
            </a:r>
          </a:p>
          <a:p>
            <a:pPr algn="ctr"/>
            <a:r>
              <a:rPr sz="950" b="0" i="0">
                <a:solidFill>
                  <a:srgbClr val="4EC3D5"/>
                </a:solidFill>
                <a:latin typeface="Calibri"/>
              </a:rPr>
              <a:t>Packet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150000" y="1680000"/>
            <a:ext cx="560000" cy="3400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B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760000" y="1500000"/>
            <a:ext cx="2200000" cy="700000"/>
          </a:xfrm>
          <a:prstGeom prst="roundRect">
            <a:avLst>
              <a:gd name="adj" fmla="val 15000"/>
            </a:avLst>
          </a:prstGeom>
          <a:solidFill>
            <a:srgbClr val="16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 i="0">
                <a:solidFill>
                  <a:srgbClr val="4EC3D5"/>
                </a:solidFill>
                <a:latin typeface="Calibri"/>
              </a:rPr>
              <a:t>ACL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Rule Evaluation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000000" y="2320000"/>
            <a:ext cx="340000" cy="4500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4EC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own Arrow 10"/>
          <p:cNvSpPr/>
          <p:nvPr/>
        </p:nvSpPr>
        <p:spPr>
          <a:xfrm>
            <a:off x="10650000" y="2320000"/>
            <a:ext cx="340000" cy="4500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100000" y="2900000"/>
            <a:ext cx="2000000" cy="600000"/>
          </a:xfrm>
          <a:prstGeom prst="roundRect">
            <a:avLst>
              <a:gd name="adj" fmla="val 15000"/>
            </a:avLst>
          </a:prstGeom>
          <a:solidFill>
            <a:srgbClr val="4EC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395C"/>
                </a:solidFill>
                <a:latin typeface="Calibri"/>
              </a:rPr>
              <a:t>PERMIT
Matches a known-good rule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60000" y="2900000"/>
            <a:ext cx="2200000" cy="600000"/>
          </a:xfrm>
          <a:prstGeom prst="roundRect">
            <a:avLst>
              <a:gd name="adj" fmla="val 15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DENY
No matching permit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0000" y="3650000"/>
            <a:ext cx="486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1">
                <a:solidFill>
                  <a:srgbClr val="7F7F7F"/>
                </a:solidFill>
                <a:latin typeface="Calibri"/>
              </a:rPr>
              <a:t>Every ACL ends with an implicit “deny all” — if traffic doesn’t match a permit statement above it, it is dropped.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B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4EC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600" cy="105156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Mitigate Spoofing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1460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4.6.1 Mitigate Spoofing Attacks  |  Mitigate Attacks with ACLs  |  Network Defense  |  Cisco Networking Academy  |  Kudzaishe Majeza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126480" cy="26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50" b="1" i="0">
                <a:solidFill>
                  <a:srgbClr val="1B395C"/>
                </a:solidFill>
                <a:latin typeface="Calibri"/>
              </a:rPr>
              <a:t>•  IP spoofing: </a:t>
            </a:r>
            <a:r>
              <a:rPr sz="1350" b="0" i="0">
                <a:solidFill>
                  <a:srgbClr val="141414"/>
                </a:solidFill>
                <a:latin typeface="Calibri"/>
              </a:rPr>
              <a:t>overrides the normal packet-creation process by inserting a custom IP header with a different source address — it's how attackers hide their identity, and the basis of most DoS attacks.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141414"/>
                </a:solidFill>
                <a:latin typeface="Calibri"/>
              </a:rPr>
              <a:t>•  Several address classes should never show up as a source address entering a network from the internet: all-zeros, broadcast, loopback (127.0.0.0/8), APIPA (169.254.0.0/16), private RFC 1918 ranges, and IP multicast (224.0.0.0/4).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1B395C"/>
                </a:solidFill>
                <a:latin typeface="Calibri"/>
              </a:rPr>
              <a:t>•  This topology: </a:t>
            </a:r>
            <a:r>
              <a:rPr sz="1350" b="0" i="0">
                <a:solidFill>
                  <a:srgbClr val="141414"/>
                </a:solidFill>
                <a:latin typeface="Calibri"/>
              </a:rPr>
              <a:t>the 192.168.1.0/24 network sits on R1's G0/0 interface. The ACL on S0/0/0 (facing the internet) denies all of those spoof-prone ranges; the ACL on G0/0 permits only the real 192.168.1.0/24 network.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50000"/>
            <a:ext cx="1550000" cy="680000"/>
          </a:xfrm>
          <a:prstGeom prst="roundRect">
            <a:avLst>
              <a:gd name="adj" fmla="val 15000"/>
            </a:avLst>
          </a:prstGeom>
          <a:solidFill>
            <a:srgbClr val="1B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PC</a:t>
            </a:r>
          </a:p>
          <a:p>
            <a:pPr algn="ctr"/>
            <a:r>
              <a:rPr sz="950" b="0" i="0">
                <a:solidFill>
                  <a:srgbClr val="4EC3D5"/>
                </a:solidFill>
                <a:latin typeface="Calibri"/>
              </a:rPr>
              <a:t>192.168.1.0/24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07200" y="4490000"/>
            <a:ext cx="1000000" cy="0"/>
          </a:xfrm>
          <a:prstGeom prst="line">
            <a:avLst/>
          </a:prstGeom>
          <a:ln w="22225">
            <a:solidFill>
              <a:srgbClr val="1B39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57200" y="4210000"/>
            <a:ext cx="9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7F7F7F"/>
                </a:solidFill>
                <a:latin typeface="Calibri"/>
              </a:rPr>
              <a:t>G0/0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7200" y="4070000"/>
            <a:ext cx="1200000" cy="840000"/>
          </a:xfrm>
          <a:prstGeom prst="roundRect">
            <a:avLst>
              <a:gd name="adj" fmla="val 15000"/>
            </a:avLst>
          </a:prstGeom>
          <a:solidFill>
            <a:srgbClr val="16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 i="0">
                <a:solidFill>
                  <a:srgbClr val="4EC3D5"/>
                </a:solidFill>
                <a:latin typeface="Calibri"/>
              </a:rPr>
              <a:t>R1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Router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7200" y="4490000"/>
            <a:ext cx="950000" cy="0"/>
          </a:xfrm>
          <a:prstGeom prst="line">
            <a:avLst/>
          </a:prstGeom>
          <a:ln w="28575">
            <a:solidFill>
              <a:srgbClr val="C050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&quot;No&quot; Symbol 11"/>
          <p:cNvSpPr/>
          <p:nvPr/>
        </p:nvSpPr>
        <p:spPr>
          <a:xfrm>
            <a:off x="4507200" y="4260000"/>
            <a:ext cx="220000" cy="220000"/>
          </a:xfrm>
          <a:prstGeom prst="noSmoking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37200" y="3930000"/>
            <a:ext cx="9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7F7F7F"/>
                </a:solidFill>
                <a:latin typeface="Calibri"/>
              </a:rPr>
              <a:t>S0/0/0</a:t>
            </a:r>
          </a:p>
        </p:txBody>
      </p:sp>
      <p:sp>
        <p:nvSpPr>
          <p:cNvPr id="14" name="Cloud 13"/>
          <p:cNvSpPr/>
          <p:nvPr/>
        </p:nvSpPr>
        <p:spPr>
          <a:xfrm>
            <a:off x="5157200" y="4030000"/>
            <a:ext cx="1450000" cy="920000"/>
          </a:xfrm>
          <a:prstGeom prst="cloud">
            <a:avLst/>
          </a:prstGeom>
          <a:solidFill>
            <a:srgbClr val="FFFFFF"/>
          </a:solidFill>
          <a:ln w="19050">
            <a:solidFill>
              <a:srgbClr val="1B3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1B395C"/>
                </a:solidFill>
                <a:latin typeface="Calibri"/>
              </a:rPr>
              <a:t>Internet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50000"/>
            <a:ext cx="64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Calibri"/>
              </a:rPr>
              <a:t>Spoofed/forbidden source ranges are denied inbound on S0/0/0; only 192.168.1.0/24 is permitted inbound on G0/0.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00000" y="1450000"/>
            <a:ext cx="4634800" cy="1950000"/>
          </a:xfrm>
          <a:prstGeom prst="rect">
            <a:avLst/>
          </a:prstGeom>
          <a:solidFill>
            <a:srgbClr val="16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</a:rPr>
              <a:t>Inbound on S0/0/0: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4EC3D5"/>
                </a:solidFill>
                <a:latin typeface="Consolas"/>
              </a:rPr>
              <a:t>R1(config)# access-list 150 deny ip host 0.0.0.0 any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4EC3D5"/>
                </a:solidFill>
                <a:latin typeface="Consolas"/>
              </a:rPr>
              <a:t>R1(config)# access-list 150 deny ip 127.0.0.0 0.255.255.255 any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4EC3D5"/>
                </a:solidFill>
                <a:latin typeface="Consolas"/>
              </a:rPr>
              <a:t>R1(config)# access-list 150 deny ip 172.16.0.0 0.15.255.255 any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4EC3D5"/>
                </a:solidFill>
                <a:latin typeface="Consolas"/>
              </a:rPr>
              <a:t>R1(config)# access-list 150 deny ip 192.168.0.0 0.0.255.255 any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4EC3D5"/>
                </a:solidFill>
                <a:latin typeface="Consolas"/>
              </a:rPr>
              <a:t>R1(config)# access-list 150 deny ip 224.0.0.0 15.255.255.255 any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</a:rPr>
              <a:t>  ...(plus 10.0.0.0/8, APIPA, and the broadcast address)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00000" y="3550000"/>
            <a:ext cx="4634800" cy="750000"/>
          </a:xfrm>
          <a:prstGeom prst="rect">
            <a:avLst/>
          </a:prstGeom>
          <a:solidFill>
            <a:srgbClr val="16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</a:rPr>
              <a:t>Inbound on G0/0: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4EC3D5"/>
                </a:solidFill>
                <a:latin typeface="Consolas"/>
              </a:rPr>
              <a:t>R1(config)# access-list 105 permit ip 192.168.1.0 0.0.0.255 any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0000" y="4500000"/>
            <a:ext cx="46348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Calibri"/>
              </a:rPr>
              <a:t>Abbreviations: DoS = Denial of Service. RFC = Request for Comments, the standards documents that define the internet — RFC 1918 reserves the private address ranges. APIPA = Automatic Private IP Addressing.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B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4EC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600" cy="105156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Permit Necessary Traffic through a Firewall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1460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4.6.2 Permit Necessary Traffic through a Firewall  |  Mitigate Attacks with ACLs  |  Network Defense  |  Cisco Networking Academy  |  Kudzaishe Majeza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126480" cy="26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50" b="1" i="0">
                <a:solidFill>
                  <a:srgbClr val="1B395C"/>
                </a:solidFill>
                <a:latin typeface="Calibri"/>
              </a:rPr>
              <a:t>•  Explicitly permit, </a:t>
            </a:r>
            <a:r>
              <a:rPr sz="1350" b="0" i="0">
                <a:solidFill>
                  <a:srgbClr val="141414"/>
                </a:solidFill>
                <a:latin typeface="Calibri"/>
              </a:rPr>
              <a:t>rather than broadly allow, only the traffic types a firewall actually needs to pass — here that's DNS, SMTP, and FTP reaching the public server.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141414"/>
                </a:solidFill>
                <a:latin typeface="Calibri"/>
              </a:rPr>
              <a:t>•  It's also common to permit an administrator's remote-access traffic through the firewall — SSH for CLI access, syslog for log collection, and SNMP traps for alerts.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1B395C"/>
                </a:solidFill>
                <a:latin typeface="Calibri"/>
              </a:rPr>
              <a:t>•  Important: </a:t>
            </a:r>
            <a:r>
              <a:rPr sz="1350" b="0" i="0">
                <a:solidFill>
                  <a:srgbClr val="141414"/>
                </a:solidFill>
                <a:latin typeface="Calibri"/>
              </a:rPr>
              <a:t>these admin services are powerful, so even though they're permitted, they're scoped to one specific admin host (200.5.5.5), not “any” source — and they still need to be monitored, since exploiting them is itself a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50000"/>
            <a:ext cx="1550000" cy="680000"/>
          </a:xfrm>
          <a:prstGeom prst="roundRect">
            <a:avLst>
              <a:gd name="adj" fmla="val 15000"/>
            </a:avLst>
          </a:prstGeom>
          <a:solidFill>
            <a:srgbClr val="1B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Admin PC</a:t>
            </a:r>
          </a:p>
          <a:p>
            <a:pPr algn="ctr"/>
            <a:r>
              <a:rPr sz="950" b="0" i="0">
                <a:solidFill>
                  <a:srgbClr val="4EC3D5"/>
                </a:solidFill>
                <a:latin typeface="Calibri"/>
              </a:rPr>
              <a:t>200.5.5.5/24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07200" y="4490000"/>
            <a:ext cx="950000" cy="0"/>
          </a:xfrm>
          <a:prstGeom prst="line">
            <a:avLst/>
          </a:prstGeom>
          <a:ln w="22225">
            <a:solidFill>
              <a:srgbClr val="1B39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loud 8"/>
          <p:cNvSpPr/>
          <p:nvPr/>
        </p:nvSpPr>
        <p:spPr>
          <a:xfrm>
            <a:off x="2957200" y="4030000"/>
            <a:ext cx="1350000" cy="920000"/>
          </a:xfrm>
          <a:prstGeom prst="cloud">
            <a:avLst/>
          </a:prstGeom>
          <a:solidFill>
            <a:srgbClr val="FFFFFF"/>
          </a:solidFill>
          <a:ln w="19050">
            <a:solidFill>
              <a:srgbClr val="1B3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1B395C"/>
                </a:solidFill>
                <a:latin typeface="Calibri"/>
              </a:rPr>
              <a:t>Internet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07200" y="4490000"/>
            <a:ext cx="950000" cy="0"/>
          </a:xfrm>
          <a:prstGeom prst="line">
            <a:avLst/>
          </a:prstGeom>
          <a:ln w="22225">
            <a:solidFill>
              <a:srgbClr val="1B39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57200" y="4210000"/>
            <a:ext cx="9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7F7F7F"/>
                </a:solidFill>
                <a:latin typeface="Calibri"/>
              </a:rPr>
              <a:t>S0/0/0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200" y="4070000"/>
            <a:ext cx="1150000" cy="840000"/>
          </a:xfrm>
          <a:prstGeom prst="roundRect">
            <a:avLst>
              <a:gd name="adj" fmla="val 15000"/>
            </a:avLst>
          </a:prstGeom>
          <a:solidFill>
            <a:srgbClr val="16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 i="0">
                <a:solidFill>
                  <a:srgbClr val="4EC3D5"/>
                </a:solidFill>
                <a:latin typeface="Calibri"/>
              </a:rPr>
              <a:t>R1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10.0.1.1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32200" y="4910000"/>
            <a:ext cx="0" cy="620000"/>
          </a:xfrm>
          <a:prstGeom prst="line">
            <a:avLst/>
          </a:prstGeom>
          <a:ln w="22225">
            <a:solidFill>
              <a:srgbClr val="1B39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57200" y="5530000"/>
            <a:ext cx="1400000" cy="720000"/>
          </a:xfrm>
          <a:prstGeom prst="roundRect">
            <a:avLst>
              <a:gd name="adj" fmla="val 15000"/>
            </a:avLst>
          </a:prstGeom>
          <a:solidFill>
            <a:srgbClr val="1B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PC1 &amp; Server</a:t>
            </a:r>
          </a:p>
          <a:p>
            <a:pPr algn="ctr"/>
            <a:r>
              <a:rPr sz="950" b="0" i="0">
                <a:solidFill>
                  <a:srgbClr val="4EC3D5"/>
                </a:solidFill>
                <a:latin typeface="Calibri"/>
              </a:rPr>
              <a:t>192.168.20.2/24 — DNS, SMTP, FTP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00000" y="1450000"/>
            <a:ext cx="4634800" cy="2550000"/>
          </a:xfrm>
          <a:prstGeom prst="rect">
            <a:avLst/>
          </a:prstGeom>
          <a:solidFill>
            <a:srgbClr val="16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</a:rPr>
              <a:t>Inbound on S0/0/0: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4EC3D5"/>
                </a:solidFill>
                <a:latin typeface="Consolas"/>
              </a:rPr>
              <a:t>R1(config)# access-list 180 permit udp any host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</a:rPr>
              <a:t>    192.168.20.2 eq domain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4EC3D5"/>
                </a:solidFill>
                <a:latin typeface="Consolas"/>
              </a:rPr>
              <a:t>R1(config)# access-list 180 permit tcp any host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</a:rPr>
              <a:t>    192.168.20.2 eq smtp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4EC3D5"/>
                </a:solidFill>
                <a:latin typeface="Consolas"/>
              </a:rPr>
              <a:t>R1(config)# access-list 180 permit tcp any host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</a:rPr>
              <a:t>    192.168.20.2 eq ftp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4EC3D5"/>
                </a:solidFill>
                <a:latin typeface="Consolas"/>
              </a:rPr>
              <a:t>R1(config)# access-list 180 permit tcp host 200.5.5.5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</a:rPr>
              <a:t>    host 10.0.1.1 eq 22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4EC3D5"/>
                </a:solidFill>
                <a:latin typeface="Consolas"/>
              </a:rPr>
              <a:t>R1(config)# access-list 180 permit udp host 200.5.5.5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</a:rPr>
              <a:t>    host 10.0.1.1 eq snmptrap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000" y="4150000"/>
            <a:ext cx="4634800" cy="1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Calibri"/>
              </a:rPr>
              <a:t>Abbreviations: DNS = Domain Name System. SMTP = Simple Mail Transfer Protocol. FTP = File Transfer Protocol. SSH = Secure Shell, port 22, used for encrypted remote admin access. SNMP = Simple Network Management Protocol.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B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4EC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600" cy="105156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Mitigate ICMP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1460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4.6.3 Mitigate ICMP Attacks  |  Mitigate Attacks with ACLs  |  Network Defense  |  Cisco Networking Academy  |  Kudzaishe Majeza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126480" cy="26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50" b="1" i="0">
                <a:solidFill>
                  <a:srgbClr val="1B395C"/>
                </a:solidFill>
                <a:latin typeface="Calibri"/>
              </a:rPr>
              <a:t>•  ICMP: </a:t>
            </a:r>
            <a:r>
              <a:rPr sz="1350" b="0" i="0">
                <a:solidFill>
                  <a:srgbClr val="141414"/>
                </a:solidFill>
                <a:latin typeface="Calibri"/>
              </a:rPr>
              <a:t>Internet Control Message Protocol — echo packets (pings) let an attacker discover live subnets and hosts on a protected network, and can be used to generate DoS flood attacks; redirect messages can alter a host's routing table. Both should be blocked inbound.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1B395C"/>
                </a:solidFill>
                <a:latin typeface="Calibri"/>
              </a:rPr>
              <a:t>•  Allowed inbound </a:t>
            </a:r>
            <a:r>
              <a:rPr sz="1350" b="0" i="0">
                <a:solidFill>
                  <a:srgbClr val="141414"/>
                </a:solidFill>
                <a:latin typeface="Calibri"/>
              </a:rPr>
              <a:t>(into the network): echo-reply, source-quench, and unreachable — needed for normal operation.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1B395C"/>
                </a:solidFill>
                <a:latin typeface="Calibri"/>
              </a:rPr>
              <a:t>•  Allowed outbound </a:t>
            </a:r>
            <a:r>
              <a:rPr sz="1350" b="0" i="0">
                <a:solidFill>
                  <a:srgbClr val="141414"/>
                </a:solidFill>
                <a:latin typeface="Calibri"/>
              </a:rPr>
              <a:t>(leaving the network): echo, parameter-problem, packet-too-big, and source-quench. Rule of thumb: block every other ICMP type outbound.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50000"/>
            <a:ext cx="1050000" cy="680000"/>
          </a:xfrm>
          <a:prstGeom prst="roundRect">
            <a:avLst>
              <a:gd name="adj" fmla="val 15000"/>
            </a:avLst>
          </a:prstGeom>
          <a:solidFill>
            <a:srgbClr val="1B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PC</a:t>
            </a:r>
          </a:p>
          <a:p>
            <a:pPr algn="ctr"/>
            <a:r>
              <a:rPr sz="950" b="0" i="0">
                <a:solidFill>
                  <a:srgbClr val="4EC3D5"/>
                </a:solidFill>
                <a:latin typeface="Calibri"/>
              </a:rPr>
              <a:t>209.165.201.3/24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07200" y="4490000"/>
            <a:ext cx="550000" cy="0"/>
          </a:xfrm>
          <a:prstGeom prst="line">
            <a:avLst/>
          </a:prstGeom>
          <a:ln w="22225">
            <a:solidFill>
              <a:srgbClr val="1B39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loud 8"/>
          <p:cNvSpPr/>
          <p:nvPr/>
        </p:nvSpPr>
        <p:spPr>
          <a:xfrm>
            <a:off x="2057200" y="4030000"/>
            <a:ext cx="1000000" cy="920000"/>
          </a:xfrm>
          <a:prstGeom prst="cloud">
            <a:avLst/>
          </a:prstGeom>
          <a:solidFill>
            <a:srgbClr val="FFFFFF"/>
          </a:solidFill>
          <a:ln w="19050">
            <a:solidFill>
              <a:srgbClr val="1B3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1B395C"/>
                </a:solidFill>
                <a:latin typeface="Calibri"/>
              </a:rPr>
              <a:t>Internet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57200" y="4490000"/>
            <a:ext cx="550000" cy="0"/>
          </a:xfrm>
          <a:prstGeom prst="line">
            <a:avLst/>
          </a:prstGeom>
          <a:ln w="22225">
            <a:solidFill>
              <a:srgbClr val="1B39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057200" y="4210000"/>
            <a:ext cx="7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7F7F7F"/>
                </a:solidFill>
                <a:latin typeface="Calibri"/>
              </a:rPr>
              <a:t>S0/0/0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7200" y="4070000"/>
            <a:ext cx="850000" cy="840000"/>
          </a:xfrm>
          <a:prstGeom prst="roundRect">
            <a:avLst>
              <a:gd name="adj" fmla="val 15000"/>
            </a:avLst>
          </a:prstGeom>
          <a:solidFill>
            <a:srgbClr val="16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 i="0">
                <a:solidFill>
                  <a:srgbClr val="4EC3D5"/>
                </a:solidFill>
                <a:latin typeface="Calibri"/>
              </a:rPr>
              <a:t>R1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Router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57200" y="4490000"/>
            <a:ext cx="550000" cy="0"/>
          </a:xfrm>
          <a:prstGeom prst="line">
            <a:avLst/>
          </a:prstGeom>
          <a:ln w="22225">
            <a:solidFill>
              <a:srgbClr val="1B39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67200" y="4210000"/>
            <a:ext cx="7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7F7F7F"/>
                </a:solidFill>
                <a:latin typeface="Calibri"/>
              </a:rPr>
              <a:t>G0/0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7200" y="4150000"/>
            <a:ext cx="1050000" cy="680000"/>
          </a:xfrm>
          <a:prstGeom prst="roundRect">
            <a:avLst>
              <a:gd name="adj" fmla="val 15000"/>
            </a:avLst>
          </a:prstGeom>
          <a:solidFill>
            <a:srgbClr val="1B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Server</a:t>
            </a:r>
          </a:p>
          <a:p>
            <a:pPr algn="ctr"/>
            <a:r>
              <a:rPr sz="950" b="0" i="0">
                <a:solidFill>
                  <a:srgbClr val="4EC3D5"/>
                </a:solidFill>
                <a:latin typeface="Calibri"/>
              </a:rPr>
              <a:t>192.168.1.0/24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00000" y="1450000"/>
            <a:ext cx="4634800" cy="1700000"/>
          </a:xfrm>
          <a:prstGeom prst="rect">
            <a:avLst/>
          </a:prstGeom>
          <a:solidFill>
            <a:srgbClr val="16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</a:rPr>
              <a:t>Inbound on S0/0/0 (ACL 112):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4EC3D5"/>
                </a:solidFill>
                <a:latin typeface="Consolas"/>
              </a:rPr>
              <a:t>R1(config)# access-list 112 permit icmp any any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</a:rPr>
              <a:t>    echo-reply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4EC3D5"/>
                </a:solidFill>
                <a:latin typeface="Consolas"/>
              </a:rPr>
              <a:t>R1(config)# access-list 112 permit icmp any any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</a:rPr>
              <a:t>    unreachable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4EC3D5"/>
                </a:solidFill>
                <a:latin typeface="Consolas"/>
              </a:rPr>
              <a:t>R1(config)# access-list 112 deny icmp any any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00000" y="3300000"/>
            <a:ext cx="4634800" cy="1350000"/>
          </a:xfrm>
          <a:prstGeom prst="rect">
            <a:avLst/>
          </a:prstGeom>
          <a:solidFill>
            <a:srgbClr val="16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</a:rPr>
              <a:t>Outbound on S0/0/0 (ACL 114):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4EC3D5"/>
                </a:solidFill>
                <a:latin typeface="Consolas"/>
              </a:rPr>
              <a:t>R1(config)# access-list 114 permit icmp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</a:rPr>
              <a:t>    192.168.1.0 0.0.0.255 any echo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4EC3D5"/>
                </a:solidFill>
                <a:latin typeface="Consolas"/>
              </a:rPr>
              <a:t>R1(config)# access-list 114 deny icmp any any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0000" y="4800000"/>
            <a:ext cx="46348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Calibri"/>
              </a:rPr>
              <a:t>Abbreviations: ICMP = Internet Control Message Protocol. DoS = Denial of Service.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B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4EC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600" cy="105156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Mitigate SNMP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1460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4.6.4 Mitigate SNMP Attacks  |  Mitigate Attacks with ACLs  |  Network Defense  |  Cisco Networking Academy  |  Kudzaishe Majeza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126480" cy="26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50" b="1" i="0">
                <a:solidFill>
                  <a:srgbClr val="1B395C"/>
                </a:solidFill>
                <a:latin typeface="Calibri"/>
              </a:rPr>
              <a:t>•  SNMP: </a:t>
            </a:r>
            <a:r>
              <a:rPr sz="1350" b="0" i="0">
                <a:solidFill>
                  <a:srgbClr val="141414"/>
                </a:solidFill>
                <a:latin typeface="Calibri"/>
              </a:rPr>
              <a:t>management protocols like SNMP are useful for remote monitoring and management of networked devices — but that same remote access can still be exploited.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1B395C"/>
                </a:solidFill>
                <a:latin typeface="Calibri"/>
              </a:rPr>
              <a:t>•  First layer of defense: </a:t>
            </a:r>
            <a:r>
              <a:rPr sz="1350" b="0" i="0">
                <a:solidFill>
                  <a:srgbClr val="141414"/>
                </a:solidFill>
                <a:latin typeface="Calibri"/>
              </a:rPr>
              <a:t>apply interface ACLs so only authorized management systems can send SNMP packets to a device.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1B395C"/>
                </a:solidFill>
                <a:latin typeface="Calibri"/>
              </a:rPr>
              <a:t>•  The catch: </a:t>
            </a:r>
            <a:r>
              <a:rPr sz="1350" b="0" i="0">
                <a:solidFill>
                  <a:srgbClr val="141414"/>
                </a:solidFill>
                <a:latin typeface="Calibri"/>
              </a:rPr>
              <a:t>an exploit may still be possible if the attacker spoofs their source address to one the ACL already permits — ACLs alone aren't airtight.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1B395C"/>
                </a:solidFill>
                <a:latin typeface="Calibri"/>
              </a:rPr>
              <a:t>•  Most effective fix: </a:t>
            </a:r>
            <a:r>
              <a:rPr sz="1350" b="0" i="0">
                <a:solidFill>
                  <a:srgbClr val="141414"/>
                </a:solidFill>
                <a:latin typeface="Calibri"/>
              </a:rPr>
              <a:t>if SNMP isn't actually required on a device, disable the SNMP server completely, with the no snmp-server command.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50000"/>
            <a:ext cx="1700000" cy="760000"/>
          </a:xfrm>
          <a:prstGeom prst="roundRect">
            <a:avLst>
              <a:gd name="adj" fmla="val 15000"/>
            </a:avLst>
          </a:prstGeom>
          <a:solidFill>
            <a:srgbClr val="16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 i="0">
                <a:solidFill>
                  <a:srgbClr val="4EC3D5"/>
                </a:solidFill>
                <a:latin typeface="Calibri"/>
              </a:rPr>
              <a:t>Router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SNMP disabled —
request denied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57200" y="4530000"/>
            <a:ext cx="950000" cy="0"/>
          </a:xfrm>
          <a:prstGeom prst="line">
            <a:avLst/>
          </a:prstGeom>
          <a:ln w="28575">
            <a:solidFill>
              <a:srgbClr val="C050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&quot;No&quot; Symbol 8"/>
          <p:cNvSpPr/>
          <p:nvPr/>
        </p:nvSpPr>
        <p:spPr>
          <a:xfrm>
            <a:off x="2457200" y="4300000"/>
            <a:ext cx="220000" cy="220000"/>
          </a:xfrm>
          <a:prstGeom prst="noSmoking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loud 9"/>
          <p:cNvSpPr/>
          <p:nvPr/>
        </p:nvSpPr>
        <p:spPr>
          <a:xfrm>
            <a:off x="3107200" y="4050000"/>
            <a:ext cx="1350000" cy="900000"/>
          </a:xfrm>
          <a:prstGeom prst="cloud">
            <a:avLst/>
          </a:prstGeom>
          <a:solidFill>
            <a:srgbClr val="FFFFFF"/>
          </a:solidFill>
          <a:ln w="19050">
            <a:solidFill>
              <a:srgbClr val="1B3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1B395C"/>
                </a:solidFill>
                <a:latin typeface="Calibri"/>
              </a:rPr>
              <a:t>Internet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57200" y="4530000"/>
            <a:ext cx="950000" cy="0"/>
          </a:xfrm>
          <a:prstGeom prst="line">
            <a:avLst/>
          </a:prstGeom>
          <a:ln w="22225">
            <a:solidFill>
              <a:srgbClr val="1B39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07200" y="4150000"/>
            <a:ext cx="1850000" cy="760000"/>
          </a:xfrm>
          <a:prstGeom prst="roundRect">
            <a:avLst>
              <a:gd name="adj" fmla="val 15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Outside Attacker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Attempted SNMP exploit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00000" y="1450000"/>
            <a:ext cx="4634800" cy="750000"/>
          </a:xfrm>
          <a:prstGeom prst="rect">
            <a:avLst/>
          </a:prstGeom>
          <a:solidFill>
            <a:srgbClr val="16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onsolas"/>
              </a:rPr>
              <a:t>Most effective mitigation: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4EC3D5"/>
                </a:solidFill>
                <a:latin typeface="Consolas"/>
              </a:rPr>
              <a:t>Router(config)# no snmp-server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0000" y="2400000"/>
            <a:ext cx="46348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7F7F7F"/>
                </a:solidFill>
                <a:latin typeface="Calibri"/>
              </a:rPr>
              <a:t>Disabling the SNMP server outright removes the attack surface entirely — no ACL to maintain, and no spoofed-source edge case to worry about.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0000" y="3500000"/>
            <a:ext cx="46348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Calibri"/>
              </a:rPr>
              <a:t>Abbreviations: SNMP = Simple Network Management Protocol, used for remote monitoring/management of network devices. MIB = Management Information Base, the structured set of values on a device that SNMP reads and writes.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B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4EC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600" cy="105156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1460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Mitigate Attacks with ACLs  |  Network Defense  |  Cisco Networking Academy  |  Kudzaishe Majeza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000"/>
            <a:ext cx="10698480" cy="4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0" i="0">
                <a:solidFill>
                  <a:srgbClr val="141414"/>
                </a:solidFill>
                <a:latin typeface="Calibri"/>
              </a:rPr>
              <a:t>•  ACLs enforce one golden rule at the network edge: permit only what's necessary, deny everything else.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141414"/>
                </a:solidFill>
                <a:latin typeface="Calibri"/>
              </a:rPr>
              <a:t>•  4.6.1 — Antispoofing ACLs deny spoof-prone source ranges (private, loopback, multicast, broadcast) inbound from the internet, and permit only the real internal network inbound from the LAN side.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141414"/>
                </a:solidFill>
                <a:latin typeface="Calibri"/>
              </a:rPr>
              <a:t>•  4.6.2 — Firewall ACLs narrowly permit only the required services (DNS, SMTP, FTP) and scoped admin access (SSH, syslog, SNMP traps from one admin host).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141414"/>
                </a:solidFill>
                <a:latin typeface="Calibri"/>
              </a:rPr>
              <a:t>•  4.6.3 — ICMP is restricted to the message types actually needed in each direction, stopping flood, reconnaissance, and redirect abuse.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141414"/>
                </a:solidFill>
                <a:latin typeface="Calibri"/>
              </a:rPr>
              <a:t>•  4.6.4 — SNMP is filtered by ACL where it's needed, but the most effective fix is disabling it entirely with no snmp-server where it isn't.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B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2000" cy="54864"/>
          </a:xfrm>
          <a:prstGeom prst="rect">
            <a:avLst/>
          </a:prstGeom>
          <a:solidFill>
            <a:srgbClr val="4EC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600" cy="105156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1460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Calibri"/>
              </a:rPr>
              <a:t>Mitigate Attacks with ACLs  |  Network Defense  |  Cisco Networking Academy  |  Kudzaishe Majeza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B395C"/>
                </a:solidFill>
                <a:latin typeface="Calibri"/>
              </a:rPr>
              <a:t>Cisco Networking Academy — Network Defense, Module 4.6: Mitigate Attacks with ACLs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30000"/>
            <a:ext cx="1069848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F7F7F"/>
                </a:solidFill>
                <a:latin typeface="Calibri"/>
              </a:rPr>
              <a:t>https://www.netacad.com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00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B395C"/>
                </a:solidFill>
                <a:latin typeface="Calibri"/>
              </a:rPr>
              <a:t>Cisco — Guide to Harden Cisco IOS Devices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30000"/>
            <a:ext cx="1069848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F7F7F"/>
                </a:solidFill>
                <a:latin typeface="Calibri"/>
              </a:rPr>
              <a:t>https://www.cisco.com/c/en/us/support/docs/ip/access-lists/13608-21.html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B395C"/>
                </a:solidFill>
                <a:latin typeface="Calibri"/>
              </a:rPr>
              <a:t>NIST Cybersecurity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30000"/>
            <a:ext cx="1069848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F7F7F"/>
                </a:solidFill>
                <a:latin typeface="Calibri"/>
              </a:rPr>
              <a:t>https://www.nist.gov/cyberframework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1458</Words>
  <Application>Microsoft Office PowerPoint</Application>
  <PresentationFormat>Widescreen</PresentationFormat>
  <Paragraphs>129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Kudzi Majeza</dc:creator>
  <cp:keywords/>
  <dc:description>generated using python-pptx</dc:description>
  <cp:lastModifiedBy>Kudzi Majeza</cp:lastModifiedBy>
  <cp:revision>2</cp:revision>
  <dcterms:created xsi:type="dcterms:W3CDTF">2013-01-27T09:14:16Z</dcterms:created>
  <dcterms:modified xsi:type="dcterms:W3CDTF">2026-10-14T13:14:37Z</dcterms:modified>
  <cp:category/>
</cp:coreProperties>
</file>